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3"/>
  </p:sldMasterIdLst>
  <p:sldSz cx="12192000" cy="6858000" type="custom"/>
  <p:notesSz cx="6858000" cy="9144000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</p:presentation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stStyle/>
    </p:titleStyle>
    <p:bodyStyle>
      <a:lstStyle/>
    </p:bodyStyle>
    <p:otherStyle>
      <a:lstStyle/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8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5400" dirty="0">
                <a:b/>
                <a:solidFill>
                  <a:srgbClr val="FFFFFF"/>
                </a:solidFill>
              </a:rPr>
              <a:t>IBM Bob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2400" dirty="0">
                <a:solidFill>
                  <a:srgbClr val="DBEAFE"/>
                </a:solidFill>
              </a:rPr>
              <a:t>Your AI Software Engineer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300" dirty="0">
                <a:solidFill>
                  <a:srgbClr val="BFDBFE"/>
                </a:solidFill>
              </a:rPr>
              <a:t>Embedded in your IDE  -  Reads &amp; writes real code  -  Runs commands  -  Validates results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846320" y="4023360"/>
            <a:ext cx="24688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846320" y="4023360"/>
            <a:ext cx="246888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000" dirty="0">
                <a:b/>
                <a:solidFill>
                  <a:srgbClr val="3B82D4"/>
                </a:solidFill>
              </a:rPr>
              <a:t>IBM INTERNAL TOOL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93C5FD"/>
                </a:solidFill>
              </a:rPr>
              <a:t>Made with IBM Bob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What is IBM Bob?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932688"/>
            <a:ext cx="11064240" cy="6400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i/>
                <a:solidFill>
                  <a:srgbClr val="1E3A5F"/>
                </a:solidFill>
              </a:rPr>
              <a:t>One-liner: IBM Bob is an AI-powered software engineering assistant embedded directly in your development environment - capable of reading, writing, refactoring, and running code, managing files, and answering technical questions.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57200" y="1691640"/>
            <a:ext cx="10972800" cy="45720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>
              <a:buChar char="-"/>
            </a:pPr>
            <a:r>
              <a:rPr lang="en-US" sz="1400" dirty="0">
                <a:solidFill>
                  <a:srgbClr val="1F2328"/>
                </a:solidFill>
              </a:rPr>
              <a:t>  Built on a large language model (LLM) with deep software engineering focus.</a:t>
            </a:r>
          </a:p>
          <a:p>
            <a:pPr>
              <a:buChar char="-"/>
            </a:pPr>
            <a:r>
              <a:rPr lang="en-US" sz="1400" dirty="0">
                <a:solidFill>
                  <a:srgbClr val="1F2328"/>
                </a:solidFill>
              </a:rPr>
              <a:t>  Lives inside the Bob IDE / VS Code extension - not a browser chatbot.</a:t>
            </a:r>
          </a:p>
          <a:p>
            <a:pPr>
              <a:buChar char="-"/>
            </a:pPr>
            <a:r>
              <a:rPr lang="en-US" sz="1400" dirty="0">
                <a:solidFill>
                  <a:srgbClr val="1F2328"/>
                </a:solidFill>
              </a:rPr>
              <a:t>  Has full access to your workspace files and can make real changes.</a:t>
            </a:r>
          </a:p>
          <a:p>
            <a:pPr>
              <a:buChar char="-"/>
            </a:pPr>
            <a:r>
              <a:rPr lang="en-US" sz="1400" dirty="0">
                <a:solidFill>
                  <a:srgbClr val="1F2328"/>
                </a:solidFill>
              </a:rPr>
              <a:t>  Understands your entire codebase through symbol-level navigation (not just text search).</a:t>
            </a:r>
          </a:p>
          <a:p>
            <a:pPr>
              <a:buChar char="-"/>
            </a:pPr>
            <a:r>
              <a:rPr lang="en-US" sz="1400" dirty="0">
                <a:solidFill>
                  <a:srgbClr val="1F2328"/>
                </a:solidFill>
              </a:rPr>
              <a:t>  Executes terminal commands, runs tests, builds, and lints - all in context.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Three Modes - Right Tool for the Right Job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3657600" cy="530352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02920" y="1078992"/>
            <a:ext cx="914400" cy="27432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078992"/>
            <a:ext cx="91440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1E40AF"/>
                </a:solidFill>
              </a:rPr>
              <a:t>AGENT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444752"/>
            <a:ext cx="338328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500" dirty="0">
                <a:b/>
                <a:solidFill>
                  <a:srgbClr val="1F2328"/>
                </a:solidFill>
              </a:rPr>
              <a:t>Agent Mode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920240"/>
            <a:ext cx="3383280" cy="41148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Full coding power. Write, modify, refactor, run tests, execute commands, and implement features end-to-end. Best for day-to-day engineering tasks.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251960" y="914400"/>
            <a:ext cx="3657600" cy="530352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389120" y="1078992"/>
            <a:ext cx="914400" cy="274320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078992"/>
            <a:ext cx="91440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5B21B6"/>
                </a:solidFill>
              </a:rPr>
              <a:t>PLAN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444752"/>
            <a:ext cx="338328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500" dirty="0">
                <a:b/>
                <a:solidFill>
                  <a:srgbClr val="1F2328"/>
                </a:solidFill>
              </a:rPr>
              <a:t>Plan Mode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Think before acting. Design architecture, break down complex features, create technical specs, and strategize - without touching code yet.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8138160" y="914400"/>
            <a:ext cx="3657600" cy="530352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8275320" y="1078992"/>
            <a:ext cx="914400" cy="274320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078992"/>
            <a:ext cx="91440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065F46"/>
                </a:solidFill>
              </a:rPr>
              <a:t>ASK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444752"/>
            <a:ext cx="338328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500" dirty="0">
                <a:b/>
                <a:solidFill>
                  <a:srgbClr val="1F2328"/>
                </a:solidFill>
              </a:rPr>
              <a:t>Ask Mode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920240"/>
            <a:ext cx="3383280" cy="41148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Pure Q&amp;A. Explain code, answer technical questions, analyze existing systems, or get recommendations - read-only, no changes made.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Customisation - Make Bob Yours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3657600" cy="530352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02920" y="1078992"/>
            <a:ext cx="1188720" cy="274320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078992"/>
            <a:ext cx="11887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850" dirty="0">
                <a:b/>
                <a:solidFill>
                  <a:srgbClr val="5B21B6"/>
                </a:solidFill>
              </a:rPr>
              <a:t>CUSTOM MODES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444752"/>
            <a:ext cx="33832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450" dirty="0">
                <a:b/>
                <a:solidFill>
                  <a:srgbClr val="1F2328"/>
                </a:solidFill>
              </a:rPr>
              <a:t>Custom Modes / Personas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2011680"/>
            <a:ext cx="3383280" cy="41148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Create a role-specific Bob - e.g. "Security Reviewer", "DB Admin", "DevOps Engineer" - with tailored instructions and tool access.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251960" y="914400"/>
            <a:ext cx="3657600" cy="530352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389120" y="1078992"/>
            <a:ext cx="1188720" cy="27432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078992"/>
            <a:ext cx="11887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850" dirty="0">
                <a:b/>
                <a:solidFill>
                  <a:srgbClr val="92400E"/>
                </a:solidFill>
              </a:rPr>
              <a:t>SKILLS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444752"/>
            <a:ext cx="33832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450" dirty="0">
                <a:b/>
                <a:solidFill>
                  <a:srgbClr val="1F2328"/>
                </a:solidFill>
              </a:rPr>
              <a:t>Custom Skills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2011680"/>
            <a:ext cx="3383280" cy="41148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Package domain-specific instructions (e.g. your company's deployment process) as a reusable Skill that Bob can activate on demand.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8138160" y="914400"/>
            <a:ext cx="3657600" cy="530352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8275320" y="1078992"/>
            <a:ext cx="1188720" cy="27432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078992"/>
            <a:ext cx="11887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850" dirty="0">
                <a:b/>
                <a:solidFill>
                  <a:srgbClr val="991B1B"/>
                </a:solidFill>
              </a:rPr>
              <a:t>MCP SERVERS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444752"/>
            <a:ext cx="33832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450" dirty="0">
                <a:b/>
                <a:solidFill>
                  <a:srgbClr val="1F2328"/>
                </a:solidFill>
              </a:rPr>
              <a:t>MCP Tool Integrations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2011680"/>
            <a:ext cx="3383280" cy="41148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Connect Bob to internal APIs, ticketing systems, databases, or any custom service via the Model Context Protocol.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Core Capabilities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30175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923544"/>
            <a:ext cx="292608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Capability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914400"/>
            <a:ext cx="841248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923544"/>
            <a:ext cx="832104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What Bob Can Do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298448"/>
            <a:ext cx="301752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133502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Code Generation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1298448"/>
            <a:ext cx="841248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133502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Write new functions, classes, modules, APIs, tests in any language from a natural language description.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892808"/>
            <a:ext cx="30175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192938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Code Editing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1892808"/>
            <a:ext cx="8412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192938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Surgically modify existing files using targeted search-and-replace or diff-based patching - minimal, precise changes.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487168"/>
            <a:ext cx="301752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252374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Codebase Navigation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2487168"/>
            <a:ext cx="841248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252374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Understand symbols, find references, trace call chains, and explore project structure without reading every file.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081528"/>
            <a:ext cx="30175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311810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Command Execution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3081528"/>
            <a:ext cx="8412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311810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Run builds, test suites, linters, git commands, installs, and other CLI operations inside the workspace.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675888"/>
            <a:ext cx="301752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371246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File Management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3675888"/>
            <a:ext cx="841248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371246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Create, read, list, and write files; manage project directories and configuration files.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270248"/>
            <a:ext cx="30175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430682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Data Analysis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4270248"/>
            <a:ext cx="8412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430682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Read and analyse Excel (.xlsx) workbooks, extract insights, run computation scripts on the data.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864608"/>
            <a:ext cx="301752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490118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HTML Reports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4864608"/>
            <a:ext cx="8412480" cy="576072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490118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Generate self-contained visual dashboards, reports, and tables rendered directly in the chat.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5458968"/>
            <a:ext cx="30175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5495544"/>
            <a:ext cx="292608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MCP Integration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383280" y="5458968"/>
            <a:ext cx="8412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429000" y="5495544"/>
            <a:ext cx="8321040" cy="5029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Connect to external tools via MCP servers - databases, APIs, Jira, GitHub, and custom services.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Skills - Specialized Instruction Packs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solidFill>
                  <a:srgbClr val="57606A"/>
                </a:solidFill>
              </a:rPr>
              <a:t>Bob activates Skills - focused instruction sets that load deep expertise for specific domains on demand.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325880"/>
            <a:ext cx="36576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02920" y="1463040"/>
            <a:ext cx="86868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463040"/>
            <a:ext cx="868680" cy="25603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92400E"/>
                </a:solidFill>
              </a:rPr>
              <a:t>SKILL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1810512"/>
            <a:ext cx="3383280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b/>
                <a:solidFill>
                  <a:srgbClr val="1F2328"/>
                </a:solidFill>
              </a:rPr>
              <a:t>xlsx-insights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2194560"/>
            <a:ext cx="3383280" cy="7772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Deep Excel workbook analysis - samples, scripts, and summarised insights.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251960" y="1325880"/>
            <a:ext cx="36576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389120" y="1463040"/>
            <a:ext cx="86868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463040"/>
            <a:ext cx="868680" cy="25603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92400E"/>
                </a:solidFill>
              </a:rPr>
              <a:t>SKILL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1810512"/>
            <a:ext cx="3383280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b/>
                <a:solidFill>
                  <a:srgbClr val="1F2328"/>
                </a:solidFill>
              </a:rPr>
              <a:t>build-mcp-server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2194560"/>
            <a:ext cx="3383280" cy="7772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Scaffold and build a custom MCP server from scratch with auth patterns.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8138160" y="1325880"/>
            <a:ext cx="36576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8275320" y="1463040"/>
            <a:ext cx="86868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463040"/>
            <a:ext cx="868680" cy="25603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92400E"/>
                </a:solidFill>
              </a:rPr>
              <a:t>SKILL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1810512"/>
            <a:ext cx="3383280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b/>
                <a:solidFill>
                  <a:srgbClr val="1F2328"/>
                </a:solidFill>
              </a:rPr>
              <a:t>configure-mcp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75320" y="2194560"/>
            <a:ext cx="3383280" cy="7772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Add, register, or troubleshoot MCP server connections in the workspace.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337560"/>
            <a:ext cx="36576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02920" y="3474720"/>
            <a:ext cx="86868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3474720"/>
            <a:ext cx="868680" cy="25603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92400E"/>
                </a:solidFill>
              </a:rPr>
              <a:t>SKILL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3822192"/>
            <a:ext cx="3383280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b/>
                <a:solidFill>
                  <a:srgbClr val="1F2328"/>
                </a:solidFill>
              </a:rPr>
              <a:t>create-mode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02920" y="4206240"/>
            <a:ext cx="3383280" cy="7772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Author a new custom Bob mode or persona with full schema guidance.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251960" y="3337560"/>
            <a:ext cx="36576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4389120" y="3474720"/>
            <a:ext cx="86868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3474720"/>
            <a:ext cx="868680" cy="25603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b/>
                <a:solidFill>
                  <a:srgbClr val="92400E"/>
                </a:solidFill>
              </a:rPr>
              <a:t>SKILL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3822192"/>
            <a:ext cx="3383280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b/>
                <a:solidFill>
                  <a:srgbClr val="1F2328"/>
                </a:solidFill>
              </a:rPr>
              <a:t>create-skill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389120" y="4206240"/>
            <a:ext cx="3383280" cy="7772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Create a new skill (SKILL.md) with correct frontmatter and structure.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How Bob Works - Under the Hood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300" dirty="0">
                <a:b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39496" y="1298448"/>
            <a:ext cx="36576" cy="66751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923544"/>
            <a:ext cx="107899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You type a task in natural language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1216152"/>
            <a:ext cx="1078992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solidFill>
                  <a:srgbClr val="57606A"/>
                </a:solidFill>
              </a:rPr>
              <a:t>No special syntax needed. Plain English like "Add input validation to the login endpoint" or "Why is this test failing?"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965960"/>
            <a:ext cx="384048" cy="38404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1965960"/>
            <a:ext cx="384048" cy="38404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300" dirty="0">
                <a:b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39496" y="2350008"/>
            <a:ext cx="36576" cy="66751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1975104"/>
            <a:ext cx="107899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Bob investigates your codebase first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2267712"/>
            <a:ext cx="1078992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solidFill>
                  <a:srgbClr val="57606A"/>
                </a:solidFill>
              </a:rPr>
              <a:t>Uses symbol navigation, grep, and file reading to understand the relevant code before acting. Never guesses.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300" dirty="0">
                <a:b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39496" y="3401568"/>
            <a:ext cx="36576" cy="66751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3026664"/>
            <a:ext cx="107899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Bob plans the minimal change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3319272"/>
            <a:ext cx="1078992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solidFill>
                  <a:srgbClr val="57606A"/>
                </a:solidFill>
              </a:rPr>
              <a:t>Identifies exactly what needs to change. Engineering discipline: no unnecessary refactors, no extra features.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069080"/>
            <a:ext cx="384048" cy="38404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4069080"/>
            <a:ext cx="384048" cy="38404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300" dirty="0">
                <a:b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539496" y="4453128"/>
            <a:ext cx="36576" cy="66751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4078224"/>
            <a:ext cx="107899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Bob applies changes and validates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4370832"/>
            <a:ext cx="1078992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solidFill>
                  <a:srgbClr val="57606A"/>
                </a:solidFill>
              </a:rPr>
              <a:t>Edits files, runs tests/lint/build, and confirms the result is positive before declaring done.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5120640"/>
            <a:ext cx="384048" cy="38404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5120640"/>
            <a:ext cx="384048" cy="38404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300" dirty="0">
                <a:b/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5129784"/>
            <a:ext cx="10789920" cy="27432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Bob reports back with evidence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5422392"/>
            <a:ext cx="1078992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solidFill>
                  <a:srgbClr val="57606A"/>
                </a:solidFill>
              </a:rPr>
              <a:t>Explains what was changed, why, and shows relevant file references. Full transparency.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Real-World Use Cases for Your Team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338328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923544"/>
            <a:ext cx="329184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Scenario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914400"/>
            <a:ext cx="80467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923544"/>
            <a:ext cx="795528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How Bob Helps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298448"/>
            <a:ext cx="338328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1335024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New team member onboarding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1298448"/>
            <a:ext cx="80467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1335024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Ask Bob to explain any part of the codebase, trace how a feature works, or summarise architecture.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865376"/>
            <a:ext cx="3383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1901952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Bug fixing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1865376"/>
            <a:ext cx="8046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1901952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Paste the error, Bob reads the stack trace, navigates to the source, and applies the fix.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432304"/>
            <a:ext cx="338328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2468880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Writing tests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2432304"/>
            <a:ext cx="80467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2468880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Bob generates unit/integration tests for existing functions, following your testing framework conventions.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999232"/>
            <a:ext cx="3383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3035808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Code reviews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2999232"/>
            <a:ext cx="8046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3035808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Ask Bob to review a file or function for bugs, style issues, or improvements before submitting a PR.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566160"/>
            <a:ext cx="338328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3602736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Boilerplate generation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3566160"/>
            <a:ext cx="80467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3602736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Scaffold REST endpoints, database models, config files, CI pipelines in seconds.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133088"/>
            <a:ext cx="3383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4169664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Refactoring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4133088"/>
            <a:ext cx="8046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4169664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Safely rename symbols, extract functions, or restructure modules with full reference tracking.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700016"/>
            <a:ext cx="338328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4736592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Data and reporting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4700016"/>
            <a:ext cx="80467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4736592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Analyse spreadsheets, generate HTML dashboards, summarise Excel workbooks.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5266944"/>
            <a:ext cx="3383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5303520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Documentation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5266944"/>
            <a:ext cx="8046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5303520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Write inline docs, README files, API documentation from existing code.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5833872"/>
            <a:ext cx="338328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5870448"/>
            <a:ext cx="329184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1F2328"/>
                </a:solidFill>
              </a:rPr>
              <a:t>Tooling setup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749040" y="5833872"/>
            <a:ext cx="80467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794760" y="5870448"/>
            <a:ext cx="7955280" cy="475488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Configure MCP integrations, create custom modes, set up new skills for team workflows.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Bob's Engineering Principles - Why It's Different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11430000" cy="621792"/>
          </a:xfrm>
          <a:prstGeom prst="rect">
            <a:avLst/>
          </a:prstGeom>
          <a:solidFill>
            <a:srgbClr val="FAF5FF"/>
          </a:solidFill>
          <a:ln>
            <a:solidFill>
              <a:srgbClr val="7C5CD8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932688"/>
            <a:ext cx="11064240" cy="5760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00" dirty="0">
                <a:i/>
                <a:solidFill>
                  <a:srgbClr val="3B0764"/>
                </a:solidFill>
              </a:rPr>
              <a:t>"Produce the minimal change that solves the problem. No unnecessary features, no speculative refactors."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Grounded answers only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40080" y="2011680"/>
            <a:ext cx="1078992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Bob reads your actual code before answering. Never speculates about files it hasn't opened.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57200" y="2624328"/>
            <a:ext cx="1097280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Minimal footprint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40080" y="29443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Every changed line traces directly to your request. Nothing extra is added.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57200" y="3557016"/>
            <a:ext cx="1097280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Validates before finishing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40080" y="3877056"/>
            <a:ext cx="1078992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Runs tests, lints, and builds to confirm changes are correct.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57200" y="44897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Transparent reasoning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40080" y="4809744"/>
            <a:ext cx="1078992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Bob explains what it found, what it changed, and why - always with file references.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57200" y="5422392"/>
            <a:ext cx="1097280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Context-aware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40080" y="5742432"/>
            <a:ext cx="1078992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Tracks workspace state, recent external changes, and active files across the conversation.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Suggested Meeting Agenda (30-45 min)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14400"/>
            <a:ext cx="155448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923544"/>
            <a:ext cx="146304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Time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914400"/>
            <a:ext cx="411480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923544"/>
            <a:ext cx="402336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Topic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914400"/>
            <a:ext cx="5669280" cy="384048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923544"/>
            <a:ext cx="5577840" cy="3657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00" dirty="0">
                <a:b/>
                <a:solidFill>
                  <a:srgbClr val="1F2328"/>
                </a:solidFill>
              </a:rPr>
              <a:t>Notes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298448"/>
            <a:ext cx="15544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1344168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0-5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1298448"/>
            <a:ext cx="411480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1344168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What is IBM Bob?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1298448"/>
            <a:ext cx="56692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1344168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One-liner, positioning vs. other AI tools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956816"/>
            <a:ext cx="15544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2002536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5-10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1956816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2002536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Three Modes walkthrough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1956816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2002536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Agent / Plan / Ask with examples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615184"/>
            <a:ext cx="15544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2660904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10-14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2615184"/>
            <a:ext cx="411480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2660904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Customisation overview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2615184"/>
            <a:ext cx="56692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2660904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Custom modes, skills, MCP integrations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273552"/>
            <a:ext cx="15544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3319272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14-22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3273552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3319272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Live Demo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3273552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3319272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Pick a real task from your codebase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931920"/>
            <a:ext cx="15544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3977640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22-30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3931920"/>
            <a:ext cx="411480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3977640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Use Cases relevant to team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3931920"/>
            <a:ext cx="56692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3977640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Tailor to your team's pain points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590288"/>
            <a:ext cx="15544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4636008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30-38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4590288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4636008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Q&amp;A + Hands-on Try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4590288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4636008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Let team members type a prompt live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5248656"/>
            <a:ext cx="15544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411480" y="5294376"/>
            <a:ext cx="14630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b/>
                <a:solidFill>
                  <a:srgbClr val="3B82D4"/>
                </a:solidFill>
              </a:rPr>
              <a:t>38-45 min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1920240" y="5248656"/>
            <a:ext cx="411480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1965960" y="5294376"/>
            <a:ext cx="402336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1F2328"/>
                </a:solidFill>
              </a:rPr>
              <a:t>Next steps &amp; adoption plan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6035040" y="5248656"/>
            <a:ext cx="566928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6080760" y="5294376"/>
            <a:ext cx="5577840" cy="5486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150" dirty="0">
                <a:solidFill>
                  <a:srgbClr val="57606A"/>
                </a:solidFill>
              </a:rPr>
              <a:t>Who sets it up, onboarding docs, feedback loop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365760" y="201168"/>
            <a:ext cx="347472" cy="347472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200" dirty="0">
                <a:b/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82296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2200" dirty="0">
                <a:b/>
                <a:solidFill>
                  <a:srgbClr val="1F2328"/>
                </a:solidFill>
              </a:rPr>
              <a:t>Tips for a Great Demo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749808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960120"/>
            <a:ext cx="54864" cy="25603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Use a real project your team knows.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1243584"/>
            <a:ext cx="1106424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Impact is immediately visible when the audience recognises the code.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1892808"/>
            <a:ext cx="54864" cy="25603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1847088"/>
            <a:ext cx="1106424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Pick a task that takes a developer 10-20 minutes manually.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21762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Bob does it in under 2 minutes - time the before/after for maximum effect.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2825496"/>
            <a:ext cx="54864" cy="25603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2779776"/>
            <a:ext cx="1106424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Show Ask mode first (safe, read-only).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3108960"/>
            <a:ext cx="1106424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Builds trust before showing Agent mode making real changes.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3758184"/>
            <a:ext cx="54864" cy="25603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3712464"/>
            <a:ext cx="1106424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Demonstrate todo tracking for complex multi-step tasks.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4041648"/>
            <a:ext cx="1106424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Shows transparency and structured reasoning.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4690872"/>
            <a:ext cx="54864" cy="25603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4645152"/>
            <a:ext cx="1106424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Show a failed test or lint error, then Bob fixing it.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4974336"/>
            <a:ext cx="1106424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Demonstrates the full validate-and-fix loop automatically.</a:t>
            </a:r>
          </a:p>
        </p:txBody>
      </p:sp>
      <p:sp>
        <p:nvSpPr>
          <p:cNvPr id="2" name="bg"/>
          <p:cNvSpPr>
            <a:spLocks noGrp="1"/>
          </p:cNvSpPr>
          <p:nvPr/>
        </p:nvSpPr>
        <p:spPr>
          <a:xfrm>
            <a:off x="365760" y="5623560"/>
            <a:ext cx="54864" cy="256032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350" dirty="0">
                <a:b/>
                <a:solidFill>
                  <a:srgbClr val="1F2328"/>
                </a:solidFill>
              </a:rPr>
              <a:t>Emphasise Bob never speculates.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548640" y="5907024"/>
            <a:ext cx="11064240" cy="41148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l"/>
            <a:r>
              <a:rPr lang="en-US" sz="1250" dirty="0">
                <a:solidFill>
                  <a:srgbClr val="57606A"/>
                </a:solidFill>
              </a:rPr>
              <a:t>It reads the actual code before answering anything - grounded, not hallucinated.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57606A"/>
                </a:solidFill>
              </a:rPr>
              <a:t>IBM Bob  |  AI Software Engineer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8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3600" dirty="0">
                <a:b/>
                <a:solidFill>
                  <a:srgbClr val="FFFFFF"/>
                </a:solidFill>
              </a:rPr>
              <a:t>Ready to get started?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1600" dirty="0">
                <a:solidFill>
                  <a:srgbClr val="BFDBFE"/>
                </a:solidFill>
              </a:rPr>
              <a:t>Install the Bob extension  -  Open a project  -  Type your first task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2200" dirty="0">
                <a:b/>
                <a:solidFill>
                  <a:srgbClr val="93C5FD"/>
                </a:solidFill>
              </a:rPr>
              <a:t>Questions?</a:t>
            </a:r>
          </a:p>
        </p:txBody>
      </p:sp>
      <p:sp>
        <p:nvSpPr>
          <p:cNvPr id="1" name="tb"/>
          <p:cNvSpPr>
            <a:spLocks noGrp="1"/>
          </p:cNvSpPr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 lIns="45720" rIns="45720" tIns="45720" bIns="45720" anchor="t"/>
          <a:lstStyle/>
          <a:p>
            <a:pPr algn="ctr"/>
            <a:r>
              <a:rPr lang="en-US" sz="900" dirty="0">
                <a:solidFill>
                  <a:srgbClr val="93C5FD"/>
                </a:solidFill>
              </a:rPr>
              <a:t>Made with IBM Bob</a:t>
            </a:r>
          </a:p>
        </p:txBody>
      </p:sp>
    </p:spTree>
  </p:cSld>
</p:sld>
</file>