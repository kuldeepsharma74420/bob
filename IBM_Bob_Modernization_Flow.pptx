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F3D"/>
                </a:solidFill>
                <a:latin typeface="Segoe UI"/>
              </a:rPr>
              <a:t>IBM Bob for mainframe modernization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B82D4"/>
                </a:solidFill>
                <a:latin typeface="Segoe UI"/>
              </a:rPr>
              <a:t>How Bob thinks, acts and delivers — a GenAI agentic flow from legacy code to cloud-ready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81360" y="164592"/>
            <a:ext cx="566928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164592"/>
            <a:ext cx="13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7606A"/>
                </a:solidFill>
                <a:latin typeface="Segoe UI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645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D4"/>
                </a:solidFill>
                <a:latin typeface="Segoe UI"/>
              </a:rPr>
              <a:t>IBM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1457432" cy="4645152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716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Segoe UI"/>
              </a:rPr>
              <a:t>Legacy Mainframe Codebase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61848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7606A"/>
                </a:solidFill>
                <a:latin typeface="Segoe UI"/>
              </a:rPr>
              <a:t>(COBOL, PL/I, JCL, Assembler)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317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Segoe UI"/>
              </a:rPr>
              <a:t>Target Platform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7860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7606A"/>
                </a:solidFill>
                <a:latin typeface="Segoe UI"/>
              </a:rPr>
              <a:t>(Java, .NET, Python, Cloud-native)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2918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Segoe UI"/>
              </a:rPr>
              <a:t>User / Architect 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538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7606A"/>
                </a:solidFill>
                <a:latin typeface="Segoe UI"/>
              </a:rPr>
              <a:t>via Bob Chat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2519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Segoe UI"/>
              </a:rPr>
              <a:t>MCP Tools &amp;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4988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7606A"/>
                </a:solidFill>
                <a:latin typeface="Segoe UI"/>
              </a:rPr>
              <a:t>Repos, file systems, watsonx</a:t>
            </a:r>
          </a:p>
        </p:txBody>
      </p:sp>
      <p:sp>
        <p:nvSpPr>
          <p:cNvPr id="9999" name="Freeform"/>
          <p:cNvSpPr>
            <a:spLocks noChangeArrowheads="1"/>
          </p:cNvSpPr>
          <p:nvPr/>
        </p:nvSpPr>
        <p:spPr>
          <a:xfrm>
            <a:off x="2130552" y="1389888"/>
            <a:ext cx="502920" cy="3813048"/>
          </a:xfrm>
          <a:custGeom>
            <a:avLst/>
            <a:gdLst/>
            <a:ahLst/>
            <a:cxnLst/>
            <a:rect l="0" t="0" r="502920" b="3813048"/>
            <a:pathLst>
              <a:path w="502920" h="3813048">
                <a:moveTo>
                  <a:pt x="0" y="0"/>
                </a:moveTo>
                <a:lnTo>
                  <a:pt x="502920" y="384048"/>
                </a:lnTo>
                <a:lnTo>
                  <a:pt x="502920" y="3429000"/>
                </a:lnTo>
                <a:lnTo>
                  <a:pt x="0" y="3813048"/>
                </a:lnTo>
                <a:close/>
              </a:path>
            </a:pathLst>
          </a:custGeom>
          <a:solidFill>
            <a:srgbClr val="0F1F3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9" name="Freeform"/>
          <p:cNvSpPr>
            <a:spLocks noChangeArrowheads="1"/>
          </p:cNvSpPr>
          <p:nvPr/>
        </p:nvSpPr>
        <p:spPr>
          <a:xfrm>
            <a:off x="2194560" y="1865376"/>
            <a:ext cx="347472" cy="2862072"/>
          </a:xfrm>
          <a:custGeom>
            <a:avLst/>
            <a:gdLst/>
            <a:ahLst/>
            <a:cxnLst/>
            <a:rect l="0" t="0" r="347472" b="2862072"/>
            <a:pathLst>
              <a:path w="347472" h="2862072">
                <a:moveTo>
                  <a:pt x="0" y="0"/>
                </a:moveTo>
                <a:lnTo>
                  <a:pt x="347472" y="237744"/>
                </a:lnTo>
                <a:lnTo>
                  <a:pt x="347472" y="2624328"/>
                </a:lnTo>
                <a:lnTo>
                  <a:pt x="0" y="2862072"/>
                </a:lnTo>
                <a:close/>
              </a:path>
            </a:pathLst>
          </a:custGeom>
          <a:solidFill>
            <a:srgbClr val="1A5F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9" name="Freeform"/>
          <p:cNvSpPr>
            <a:spLocks noChangeArrowheads="1"/>
          </p:cNvSpPr>
          <p:nvPr/>
        </p:nvSpPr>
        <p:spPr>
          <a:xfrm>
            <a:off x="2651760" y="3172968"/>
            <a:ext cx="228600" cy="347472"/>
          </a:xfrm>
          <a:custGeom>
            <a:avLst/>
            <a:gdLst/>
            <a:ahLst/>
            <a:cxnLst/>
            <a:rect l="0" t="0" r="228600" b="347472"/>
            <a:pathLst>
              <a:path w="228600" h="347472">
                <a:moveTo>
                  <a:pt x="0" y="0"/>
                </a:moveTo>
                <a:lnTo>
                  <a:pt x="228600" y="173736"/>
                </a:lnTo>
                <a:lnTo>
                  <a:pt x="0" y="347472"/>
                </a:lnTo>
                <a:close/>
              </a:path>
            </a:pathLst>
          </a:cu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" name="Arc"/>
          <p:cNvSpPr>
            <a:spLocks noChangeArrowheads="1"/>
          </p:cNvSpPr>
          <p:nvPr/>
        </p:nvSpPr>
        <p:spPr>
          <a:xfrm>
            <a:off x="2719678" y="1828800"/>
            <a:ext cx="892201" cy="497028"/>
          </a:xfrm>
          <a:custGeom>
            <a:avLst/>
            <a:gdLst/>
            <a:ahLst/>
            <a:cxnLst/>
            <a:rect l="0" t="0" r="892201" b="497028"/>
            <a:pathLst>
              <a:path w="892201" h="497028">
                <a:moveTo>
                  <a:pt x="0" y="289893"/>
                </a:moveTo>
                <a:lnTo>
                  <a:pt x="65492" y="244882"/>
                </a:lnTo>
                <a:lnTo>
                  <a:pt x="133249" y="203360"/>
                </a:lnTo>
                <a:lnTo>
                  <a:pt x="203088" y="165441"/>
                </a:lnTo>
                <a:lnTo>
                  <a:pt x="274814" y="131229"/>
                </a:lnTo>
                <a:lnTo>
                  <a:pt x="348233" y="100818"/>
                </a:lnTo>
                <a:lnTo>
                  <a:pt x="423143" y="74291"/>
                </a:lnTo>
                <a:lnTo>
                  <a:pt x="499339" y="51721"/>
                </a:lnTo>
                <a:lnTo>
                  <a:pt x="576612" y="33169"/>
                </a:lnTo>
                <a:lnTo>
                  <a:pt x="654749" y="18687"/>
                </a:lnTo>
                <a:lnTo>
                  <a:pt x="733537" y="8315"/>
                </a:lnTo>
                <a:lnTo>
                  <a:pt x="812761" y="2080"/>
                </a:lnTo>
                <a:lnTo>
                  <a:pt x="892201" y="0"/>
                </a:lnTo>
                <a:lnTo>
                  <a:pt x="892201" y="256032"/>
                </a:lnTo>
                <a:lnTo>
                  <a:pt x="826160" y="257761"/>
                </a:lnTo>
                <a:lnTo>
                  <a:pt x="760300" y="262944"/>
                </a:lnTo>
                <a:lnTo>
                  <a:pt x="694801" y="271567"/>
                </a:lnTo>
                <a:lnTo>
                  <a:pt x="629844" y="283606"/>
                </a:lnTo>
                <a:lnTo>
                  <a:pt x="565605" y="299029"/>
                </a:lnTo>
                <a:lnTo>
                  <a:pt x="502262" y="317792"/>
                </a:lnTo>
                <a:lnTo>
                  <a:pt x="439987" y="339845"/>
                </a:lnTo>
                <a:lnTo>
                  <a:pt x="378952" y="365126"/>
                </a:lnTo>
                <a:lnTo>
                  <a:pt x="319324" y="393567"/>
                </a:lnTo>
                <a:lnTo>
                  <a:pt x="261265" y="425090"/>
                </a:lnTo>
                <a:lnTo>
                  <a:pt x="204937" y="459609"/>
                </a:lnTo>
                <a:lnTo>
                  <a:pt x="150492" y="497028"/>
                </a:lnTo>
                <a:close/>
              </a:path>
            </a:pathLst>
          </a:cu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" name="Arc"/>
          <p:cNvSpPr>
            <a:spLocks noChangeArrowheads="1"/>
          </p:cNvSpPr>
          <p:nvPr/>
        </p:nvSpPr>
        <p:spPr>
          <a:xfrm>
            <a:off x="3611879" y="1828800"/>
            <a:ext cx="1443613" cy="1127964"/>
          </a:xfrm>
          <a:custGeom>
            <a:avLst/>
            <a:gdLst/>
            <a:ahLst/>
            <a:cxnLst/>
            <a:rect l="0" t="0" r="1443613" b="1127964"/>
            <a:pathLst>
              <a:path w="1443613" h="1127964">
                <a:moveTo>
                  <a:pt x="0" y="0"/>
                </a:moveTo>
                <a:lnTo>
                  <a:pt x="136064" y="6110"/>
                </a:lnTo>
                <a:lnTo>
                  <a:pt x="271033" y="24393"/>
                </a:lnTo>
                <a:lnTo>
                  <a:pt x="403819" y="54700"/>
                </a:lnTo>
                <a:lnTo>
                  <a:pt x="533354" y="96789"/>
                </a:lnTo>
                <a:lnTo>
                  <a:pt x="658594" y="150319"/>
                </a:lnTo>
                <a:lnTo>
                  <a:pt x="778532" y="214861"/>
                </a:lnTo>
                <a:lnTo>
                  <a:pt x="892202" y="289893"/>
                </a:lnTo>
                <a:lnTo>
                  <a:pt x="998688" y="374813"/>
                </a:lnTo>
                <a:lnTo>
                  <a:pt x="1097134" y="468937"/>
                </a:lnTo>
                <a:lnTo>
                  <a:pt x="1186746" y="571506"/>
                </a:lnTo>
                <a:lnTo>
                  <a:pt x="1266803" y="681695"/>
                </a:lnTo>
                <a:lnTo>
                  <a:pt x="1336660" y="798616"/>
                </a:lnTo>
                <a:lnTo>
                  <a:pt x="1395755" y="921329"/>
                </a:lnTo>
                <a:lnTo>
                  <a:pt x="1443613" y="1048845"/>
                </a:lnTo>
                <a:lnTo>
                  <a:pt x="1200112" y="1127964"/>
                </a:lnTo>
                <a:lnTo>
                  <a:pt x="1160327" y="1021956"/>
                </a:lnTo>
                <a:lnTo>
                  <a:pt x="1111199" y="919942"/>
                </a:lnTo>
                <a:lnTo>
                  <a:pt x="1053125" y="822742"/>
                </a:lnTo>
                <a:lnTo>
                  <a:pt x="986572" y="731139"/>
                </a:lnTo>
                <a:lnTo>
                  <a:pt x="912075" y="645871"/>
                </a:lnTo>
                <a:lnTo>
                  <a:pt x="830235" y="567624"/>
                </a:lnTo>
                <a:lnTo>
                  <a:pt x="741710" y="497028"/>
                </a:lnTo>
                <a:lnTo>
                  <a:pt x="647214" y="434651"/>
                </a:lnTo>
                <a:lnTo>
                  <a:pt x="547506" y="380996"/>
                </a:lnTo>
                <a:lnTo>
                  <a:pt x="443391" y="336495"/>
                </a:lnTo>
                <a:lnTo>
                  <a:pt x="335705" y="301506"/>
                </a:lnTo>
                <a:lnTo>
                  <a:pt x="225316" y="276310"/>
                </a:lnTo>
                <a:lnTo>
                  <a:pt x="113114" y="261111"/>
                </a:lnTo>
                <a:lnTo>
                  <a:pt x="0" y="256032"/>
                </a:lnTo>
                <a:close/>
              </a:path>
            </a:pathLst>
          </a:custGeom>
          <a:solidFill>
            <a:srgbClr val="0F1F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" name="Arc"/>
          <p:cNvSpPr>
            <a:spLocks noChangeArrowheads="1"/>
          </p:cNvSpPr>
          <p:nvPr/>
        </p:nvSpPr>
        <p:spPr>
          <a:xfrm>
            <a:off x="4353589" y="2877645"/>
            <a:ext cx="774666" cy="1697069"/>
          </a:xfrm>
          <a:custGeom>
            <a:avLst/>
            <a:gdLst/>
            <a:ahLst/>
            <a:cxnLst/>
            <a:rect l="0" t="0" r="774666" b="1697069"/>
            <a:pathLst>
              <a:path w="774666" h="1697069">
                <a:moveTo>
                  <a:pt x="701903" y="0"/>
                </a:moveTo>
                <a:lnTo>
                  <a:pt x="738137" y="131293"/>
                </a:lnTo>
                <a:lnTo>
                  <a:pt x="762457" y="265305"/>
                </a:lnTo>
                <a:lnTo>
                  <a:pt x="774666" y="400958"/>
                </a:lnTo>
                <a:lnTo>
                  <a:pt x="774666" y="537159"/>
                </a:lnTo>
                <a:lnTo>
                  <a:pt x="762457" y="672812"/>
                </a:lnTo>
                <a:lnTo>
                  <a:pt x="738137" y="806824"/>
                </a:lnTo>
                <a:lnTo>
                  <a:pt x="701903" y="938117"/>
                </a:lnTo>
                <a:lnTo>
                  <a:pt x="654045" y="1065633"/>
                </a:lnTo>
                <a:lnTo>
                  <a:pt x="594950" y="1188346"/>
                </a:lnTo>
                <a:lnTo>
                  <a:pt x="525093" y="1305267"/>
                </a:lnTo>
                <a:lnTo>
                  <a:pt x="445036" y="1415456"/>
                </a:lnTo>
                <a:lnTo>
                  <a:pt x="355424" y="1518025"/>
                </a:lnTo>
                <a:lnTo>
                  <a:pt x="256978" y="1612149"/>
                </a:lnTo>
                <a:lnTo>
                  <a:pt x="150492" y="1697069"/>
                </a:lnTo>
                <a:lnTo>
                  <a:pt x="0" y="1489934"/>
                </a:lnTo>
                <a:lnTo>
                  <a:pt x="88525" y="1419338"/>
                </a:lnTo>
                <a:lnTo>
                  <a:pt x="170365" y="1341091"/>
                </a:lnTo>
                <a:lnTo>
                  <a:pt x="244862" y="1255823"/>
                </a:lnTo>
                <a:lnTo>
                  <a:pt x="311415" y="1164220"/>
                </a:lnTo>
                <a:lnTo>
                  <a:pt x="369489" y="1067020"/>
                </a:lnTo>
                <a:lnTo>
                  <a:pt x="418617" y="965006"/>
                </a:lnTo>
                <a:lnTo>
                  <a:pt x="458402" y="858998"/>
                </a:lnTo>
                <a:lnTo>
                  <a:pt x="488525" y="749851"/>
                </a:lnTo>
                <a:lnTo>
                  <a:pt x="508742" y="638444"/>
                </a:lnTo>
                <a:lnTo>
                  <a:pt x="518892" y="525672"/>
                </a:lnTo>
                <a:lnTo>
                  <a:pt x="518892" y="412445"/>
                </a:lnTo>
                <a:lnTo>
                  <a:pt x="508742" y="299673"/>
                </a:lnTo>
                <a:lnTo>
                  <a:pt x="488525" y="188266"/>
                </a:lnTo>
                <a:lnTo>
                  <a:pt x="458402" y="79119"/>
                </a:lnTo>
                <a:close/>
              </a:path>
            </a:pathLst>
          </a:custGeom>
          <a:solidFill>
            <a:srgbClr val="1A3A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" name="Arc"/>
          <p:cNvSpPr>
            <a:spLocks noChangeArrowheads="1"/>
          </p:cNvSpPr>
          <p:nvPr/>
        </p:nvSpPr>
        <p:spPr>
          <a:xfrm>
            <a:off x="2719678" y="4367579"/>
            <a:ext cx="1784403" cy="497029"/>
          </a:xfrm>
          <a:custGeom>
            <a:avLst/>
            <a:gdLst/>
            <a:ahLst/>
            <a:cxnLst/>
            <a:rect l="0" t="0" r="1784403" b="497029"/>
            <a:pathLst>
              <a:path w="1784403" h="497029">
                <a:moveTo>
                  <a:pt x="1784403" y="207135"/>
                </a:moveTo>
                <a:lnTo>
                  <a:pt x="1670733" y="282167"/>
                </a:lnTo>
                <a:lnTo>
                  <a:pt x="1550795" y="346709"/>
                </a:lnTo>
                <a:lnTo>
                  <a:pt x="1425555" y="400239"/>
                </a:lnTo>
                <a:lnTo>
                  <a:pt x="1296020" y="442328"/>
                </a:lnTo>
                <a:lnTo>
                  <a:pt x="1163234" y="472635"/>
                </a:lnTo>
                <a:lnTo>
                  <a:pt x="1028265" y="490918"/>
                </a:lnTo>
                <a:lnTo>
                  <a:pt x="892201" y="497029"/>
                </a:lnTo>
                <a:lnTo>
                  <a:pt x="756138" y="490918"/>
                </a:lnTo>
                <a:lnTo>
                  <a:pt x="621169" y="472635"/>
                </a:lnTo>
                <a:lnTo>
                  <a:pt x="488383" y="442328"/>
                </a:lnTo>
                <a:lnTo>
                  <a:pt x="358848" y="400239"/>
                </a:lnTo>
                <a:lnTo>
                  <a:pt x="233608" y="346709"/>
                </a:lnTo>
                <a:lnTo>
                  <a:pt x="113670" y="282167"/>
                </a:lnTo>
                <a:lnTo>
                  <a:pt x="0" y="207135"/>
                </a:lnTo>
                <a:lnTo>
                  <a:pt x="150492" y="0"/>
                </a:lnTo>
                <a:lnTo>
                  <a:pt x="244988" y="62377"/>
                </a:lnTo>
                <a:lnTo>
                  <a:pt x="344696" y="116032"/>
                </a:lnTo>
                <a:lnTo>
                  <a:pt x="448811" y="160533"/>
                </a:lnTo>
                <a:lnTo>
                  <a:pt x="556497" y="195522"/>
                </a:lnTo>
                <a:lnTo>
                  <a:pt x="666886" y="220718"/>
                </a:lnTo>
                <a:lnTo>
                  <a:pt x="779088" y="235917"/>
                </a:lnTo>
                <a:lnTo>
                  <a:pt x="892201" y="240997"/>
                </a:lnTo>
                <a:lnTo>
                  <a:pt x="1005315" y="235917"/>
                </a:lnTo>
                <a:lnTo>
                  <a:pt x="1117517" y="220718"/>
                </a:lnTo>
                <a:lnTo>
                  <a:pt x="1227906" y="195522"/>
                </a:lnTo>
                <a:lnTo>
                  <a:pt x="1335592" y="160533"/>
                </a:lnTo>
                <a:lnTo>
                  <a:pt x="1439707" y="116032"/>
                </a:lnTo>
                <a:lnTo>
                  <a:pt x="1539415" y="62377"/>
                </a:lnTo>
                <a:lnTo>
                  <a:pt x="1633911" y="0"/>
                </a:lnTo>
                <a:close/>
              </a:path>
            </a:pathLst>
          </a:custGeom>
          <a:solidFill>
            <a:srgbClr val="1A5F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" name="Arc"/>
          <p:cNvSpPr>
            <a:spLocks noChangeArrowheads="1"/>
          </p:cNvSpPr>
          <p:nvPr/>
        </p:nvSpPr>
        <p:spPr>
          <a:xfrm>
            <a:off x="2095504" y="2877645"/>
            <a:ext cx="774666" cy="1697069"/>
          </a:xfrm>
          <a:custGeom>
            <a:avLst/>
            <a:gdLst/>
            <a:ahLst/>
            <a:cxnLst/>
            <a:rect l="0" t="0" r="774666" b="1697069"/>
            <a:pathLst>
              <a:path w="774666" h="1697069">
                <a:moveTo>
                  <a:pt x="624174" y="1697069"/>
                </a:moveTo>
                <a:lnTo>
                  <a:pt x="517688" y="1612149"/>
                </a:lnTo>
                <a:lnTo>
                  <a:pt x="419242" y="1518025"/>
                </a:lnTo>
                <a:lnTo>
                  <a:pt x="329630" y="1415456"/>
                </a:lnTo>
                <a:lnTo>
                  <a:pt x="249573" y="1305267"/>
                </a:lnTo>
                <a:lnTo>
                  <a:pt x="179716" y="1188346"/>
                </a:lnTo>
                <a:lnTo>
                  <a:pt x="120621" y="1065633"/>
                </a:lnTo>
                <a:lnTo>
                  <a:pt x="72763" y="938117"/>
                </a:lnTo>
                <a:lnTo>
                  <a:pt x="36529" y="806824"/>
                </a:lnTo>
                <a:lnTo>
                  <a:pt x="12209" y="672812"/>
                </a:lnTo>
                <a:lnTo>
                  <a:pt x="0" y="537159"/>
                </a:lnTo>
                <a:lnTo>
                  <a:pt x="0" y="400958"/>
                </a:lnTo>
                <a:lnTo>
                  <a:pt x="12209" y="265305"/>
                </a:lnTo>
                <a:lnTo>
                  <a:pt x="36529" y="131293"/>
                </a:lnTo>
                <a:lnTo>
                  <a:pt x="72763" y="0"/>
                </a:lnTo>
                <a:lnTo>
                  <a:pt x="316264" y="79119"/>
                </a:lnTo>
                <a:lnTo>
                  <a:pt x="286141" y="188266"/>
                </a:lnTo>
                <a:lnTo>
                  <a:pt x="265924" y="299673"/>
                </a:lnTo>
                <a:lnTo>
                  <a:pt x="255774" y="412445"/>
                </a:lnTo>
                <a:lnTo>
                  <a:pt x="255774" y="525672"/>
                </a:lnTo>
                <a:lnTo>
                  <a:pt x="265924" y="638444"/>
                </a:lnTo>
                <a:lnTo>
                  <a:pt x="286141" y="749851"/>
                </a:lnTo>
                <a:lnTo>
                  <a:pt x="316264" y="858998"/>
                </a:lnTo>
                <a:lnTo>
                  <a:pt x="356049" y="965006"/>
                </a:lnTo>
                <a:lnTo>
                  <a:pt x="405177" y="1067020"/>
                </a:lnTo>
                <a:lnTo>
                  <a:pt x="463251" y="1164220"/>
                </a:lnTo>
                <a:lnTo>
                  <a:pt x="529804" y="1255823"/>
                </a:lnTo>
                <a:lnTo>
                  <a:pt x="604301" y="1341091"/>
                </a:lnTo>
                <a:lnTo>
                  <a:pt x="686141" y="1419338"/>
                </a:lnTo>
                <a:lnTo>
                  <a:pt x="774666" y="1489934"/>
                </a:lnTo>
                <a:close/>
              </a:path>
            </a:pathLst>
          </a:custGeom>
          <a:solidFill>
            <a:srgbClr val="1A7AB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" name="Arc"/>
          <p:cNvSpPr>
            <a:spLocks noChangeArrowheads="1"/>
          </p:cNvSpPr>
          <p:nvPr/>
        </p:nvSpPr>
        <p:spPr>
          <a:xfrm>
            <a:off x="2168267" y="2118693"/>
            <a:ext cx="701903" cy="838071"/>
          </a:xfrm>
          <a:custGeom>
            <a:avLst/>
            <a:gdLst/>
            <a:ahLst/>
            <a:cxnLst/>
            <a:rect l="0" t="0" r="701903" b="838071"/>
            <a:pathLst>
              <a:path w="701903" h="838071">
                <a:moveTo>
                  <a:pt x="0" y="758952"/>
                </a:moveTo>
                <a:lnTo>
                  <a:pt x="26527" y="684042"/>
                </a:lnTo>
                <a:lnTo>
                  <a:pt x="56938" y="610623"/>
                </a:lnTo>
                <a:lnTo>
                  <a:pt x="91150" y="538897"/>
                </a:lnTo>
                <a:lnTo>
                  <a:pt x="129069" y="469059"/>
                </a:lnTo>
                <a:lnTo>
                  <a:pt x="170591" y="401301"/>
                </a:lnTo>
                <a:lnTo>
                  <a:pt x="215602" y="335809"/>
                </a:lnTo>
                <a:lnTo>
                  <a:pt x="263980" y="272763"/>
                </a:lnTo>
                <a:lnTo>
                  <a:pt x="315590" y="212334"/>
                </a:lnTo>
                <a:lnTo>
                  <a:pt x="370292" y="154690"/>
                </a:lnTo>
                <a:lnTo>
                  <a:pt x="427936" y="99988"/>
                </a:lnTo>
                <a:lnTo>
                  <a:pt x="488365" y="48378"/>
                </a:lnTo>
                <a:lnTo>
                  <a:pt x="551411" y="0"/>
                </a:lnTo>
                <a:lnTo>
                  <a:pt x="701903" y="207135"/>
                </a:lnTo>
                <a:lnTo>
                  <a:pt x="649491" y="247352"/>
                </a:lnTo>
                <a:lnTo>
                  <a:pt x="599255" y="290257"/>
                </a:lnTo>
                <a:lnTo>
                  <a:pt x="551334" y="335732"/>
                </a:lnTo>
                <a:lnTo>
                  <a:pt x="505859" y="383653"/>
                </a:lnTo>
                <a:lnTo>
                  <a:pt x="462954" y="433889"/>
                </a:lnTo>
                <a:lnTo>
                  <a:pt x="422737" y="486301"/>
                </a:lnTo>
                <a:lnTo>
                  <a:pt x="385318" y="540746"/>
                </a:lnTo>
                <a:lnTo>
                  <a:pt x="350799" y="597075"/>
                </a:lnTo>
                <a:lnTo>
                  <a:pt x="319276" y="655133"/>
                </a:lnTo>
                <a:lnTo>
                  <a:pt x="290835" y="714761"/>
                </a:lnTo>
                <a:lnTo>
                  <a:pt x="265554" y="775796"/>
                </a:lnTo>
                <a:lnTo>
                  <a:pt x="243501" y="838071"/>
                </a:lnTo>
                <a:close/>
              </a:path>
            </a:pathLst>
          </a:custGeom>
          <a:solidFill>
            <a:srgbClr val="29A8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" name="Arc"/>
          <p:cNvSpPr>
            <a:spLocks noChangeArrowheads="1"/>
          </p:cNvSpPr>
          <p:nvPr/>
        </p:nvSpPr>
        <p:spPr>
          <a:xfrm>
            <a:off x="2719678" y="1828800"/>
            <a:ext cx="892201" cy="497028"/>
          </a:xfrm>
          <a:custGeom>
            <a:avLst/>
            <a:gdLst/>
            <a:ahLst/>
            <a:cxnLst/>
            <a:rect l="0" t="0" r="892201" b="497028"/>
            <a:pathLst>
              <a:path w="892201" h="497028">
                <a:moveTo>
                  <a:pt x="0" y="289893"/>
                </a:moveTo>
                <a:lnTo>
                  <a:pt x="65492" y="244882"/>
                </a:lnTo>
                <a:lnTo>
                  <a:pt x="133249" y="203360"/>
                </a:lnTo>
                <a:lnTo>
                  <a:pt x="203088" y="165441"/>
                </a:lnTo>
                <a:lnTo>
                  <a:pt x="274814" y="131229"/>
                </a:lnTo>
                <a:lnTo>
                  <a:pt x="348233" y="100818"/>
                </a:lnTo>
                <a:lnTo>
                  <a:pt x="423143" y="74291"/>
                </a:lnTo>
                <a:lnTo>
                  <a:pt x="499339" y="51721"/>
                </a:lnTo>
                <a:lnTo>
                  <a:pt x="576612" y="33169"/>
                </a:lnTo>
                <a:lnTo>
                  <a:pt x="654749" y="18687"/>
                </a:lnTo>
                <a:lnTo>
                  <a:pt x="733537" y="8315"/>
                </a:lnTo>
                <a:lnTo>
                  <a:pt x="812761" y="2080"/>
                </a:lnTo>
                <a:lnTo>
                  <a:pt x="892201" y="0"/>
                </a:lnTo>
                <a:lnTo>
                  <a:pt x="892201" y="256032"/>
                </a:lnTo>
                <a:lnTo>
                  <a:pt x="826160" y="257761"/>
                </a:lnTo>
                <a:lnTo>
                  <a:pt x="760300" y="262944"/>
                </a:lnTo>
                <a:lnTo>
                  <a:pt x="694801" y="271567"/>
                </a:lnTo>
                <a:lnTo>
                  <a:pt x="629844" y="283606"/>
                </a:lnTo>
                <a:lnTo>
                  <a:pt x="565605" y="299029"/>
                </a:lnTo>
                <a:lnTo>
                  <a:pt x="502262" y="317792"/>
                </a:lnTo>
                <a:lnTo>
                  <a:pt x="439987" y="339845"/>
                </a:lnTo>
                <a:lnTo>
                  <a:pt x="378952" y="365126"/>
                </a:lnTo>
                <a:lnTo>
                  <a:pt x="319324" y="393567"/>
                </a:lnTo>
                <a:lnTo>
                  <a:pt x="261265" y="425090"/>
                </a:lnTo>
                <a:lnTo>
                  <a:pt x="204937" y="459609"/>
                </a:lnTo>
                <a:lnTo>
                  <a:pt x="150492" y="497028"/>
                </a:lnTo>
                <a:close/>
              </a:path>
            </a:pathLst>
          </a:cu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" name="Arc"/>
          <p:cNvSpPr>
            <a:spLocks noChangeArrowheads="1"/>
          </p:cNvSpPr>
          <p:nvPr/>
        </p:nvSpPr>
        <p:spPr>
          <a:xfrm>
            <a:off x="2095504" y="2118693"/>
            <a:ext cx="1516375" cy="2745915"/>
          </a:xfrm>
          <a:custGeom>
            <a:avLst/>
            <a:gdLst/>
            <a:ahLst/>
            <a:cxnLst/>
            <a:rect l="0" t="0" r="1516375" b="2745915"/>
            <a:pathLst>
              <a:path w="1516375" h="2745915">
                <a:moveTo>
                  <a:pt x="1516375" y="2745915"/>
                </a:moveTo>
                <a:lnTo>
                  <a:pt x="1380312" y="2739804"/>
                </a:lnTo>
                <a:lnTo>
                  <a:pt x="1245343" y="2721521"/>
                </a:lnTo>
                <a:lnTo>
                  <a:pt x="1112557" y="2691214"/>
                </a:lnTo>
                <a:lnTo>
                  <a:pt x="983022" y="2649125"/>
                </a:lnTo>
                <a:lnTo>
                  <a:pt x="857782" y="2595595"/>
                </a:lnTo>
                <a:lnTo>
                  <a:pt x="737844" y="2531053"/>
                </a:lnTo>
                <a:lnTo>
                  <a:pt x="624174" y="2456021"/>
                </a:lnTo>
                <a:lnTo>
                  <a:pt x="517688" y="2371101"/>
                </a:lnTo>
                <a:lnTo>
                  <a:pt x="419242" y="2276977"/>
                </a:lnTo>
                <a:lnTo>
                  <a:pt x="329630" y="2174408"/>
                </a:lnTo>
                <a:lnTo>
                  <a:pt x="249573" y="2064219"/>
                </a:lnTo>
                <a:lnTo>
                  <a:pt x="179716" y="1947298"/>
                </a:lnTo>
                <a:lnTo>
                  <a:pt x="120621" y="1824585"/>
                </a:lnTo>
                <a:lnTo>
                  <a:pt x="72763" y="1697069"/>
                </a:lnTo>
                <a:lnTo>
                  <a:pt x="36529" y="1565776"/>
                </a:lnTo>
                <a:lnTo>
                  <a:pt x="12209" y="1431764"/>
                </a:lnTo>
                <a:lnTo>
                  <a:pt x="0" y="1296111"/>
                </a:lnTo>
                <a:lnTo>
                  <a:pt x="0" y="1159910"/>
                </a:lnTo>
                <a:lnTo>
                  <a:pt x="12209" y="1024257"/>
                </a:lnTo>
                <a:lnTo>
                  <a:pt x="36529" y="890245"/>
                </a:lnTo>
                <a:lnTo>
                  <a:pt x="72763" y="758952"/>
                </a:lnTo>
                <a:lnTo>
                  <a:pt x="120621" y="631436"/>
                </a:lnTo>
                <a:lnTo>
                  <a:pt x="179716" y="508723"/>
                </a:lnTo>
                <a:lnTo>
                  <a:pt x="249573" y="391802"/>
                </a:lnTo>
                <a:lnTo>
                  <a:pt x="329630" y="281613"/>
                </a:lnTo>
                <a:lnTo>
                  <a:pt x="419242" y="179044"/>
                </a:lnTo>
                <a:lnTo>
                  <a:pt x="517688" y="84920"/>
                </a:lnTo>
                <a:lnTo>
                  <a:pt x="624174" y="0"/>
                </a:lnTo>
                <a:lnTo>
                  <a:pt x="774666" y="207135"/>
                </a:lnTo>
                <a:lnTo>
                  <a:pt x="686141" y="277731"/>
                </a:lnTo>
                <a:lnTo>
                  <a:pt x="604301" y="355978"/>
                </a:lnTo>
                <a:lnTo>
                  <a:pt x="529804" y="441246"/>
                </a:lnTo>
                <a:lnTo>
                  <a:pt x="463251" y="532849"/>
                </a:lnTo>
                <a:lnTo>
                  <a:pt x="405177" y="630049"/>
                </a:lnTo>
                <a:lnTo>
                  <a:pt x="356049" y="732063"/>
                </a:lnTo>
                <a:lnTo>
                  <a:pt x="316264" y="838071"/>
                </a:lnTo>
                <a:lnTo>
                  <a:pt x="286141" y="947218"/>
                </a:lnTo>
                <a:lnTo>
                  <a:pt x="265924" y="1058625"/>
                </a:lnTo>
                <a:lnTo>
                  <a:pt x="255774" y="1171397"/>
                </a:lnTo>
                <a:lnTo>
                  <a:pt x="255774" y="1284624"/>
                </a:lnTo>
                <a:lnTo>
                  <a:pt x="265924" y="1397396"/>
                </a:lnTo>
                <a:lnTo>
                  <a:pt x="286141" y="1508803"/>
                </a:lnTo>
                <a:lnTo>
                  <a:pt x="316264" y="1617950"/>
                </a:lnTo>
                <a:lnTo>
                  <a:pt x="356049" y="1723958"/>
                </a:lnTo>
                <a:lnTo>
                  <a:pt x="405177" y="1825972"/>
                </a:lnTo>
                <a:lnTo>
                  <a:pt x="463251" y="1923172"/>
                </a:lnTo>
                <a:lnTo>
                  <a:pt x="529804" y="2014775"/>
                </a:lnTo>
                <a:lnTo>
                  <a:pt x="604301" y="2100043"/>
                </a:lnTo>
                <a:lnTo>
                  <a:pt x="686141" y="2178290"/>
                </a:lnTo>
                <a:lnTo>
                  <a:pt x="774666" y="2248886"/>
                </a:lnTo>
                <a:lnTo>
                  <a:pt x="869162" y="2311263"/>
                </a:lnTo>
                <a:lnTo>
                  <a:pt x="968870" y="2364918"/>
                </a:lnTo>
                <a:lnTo>
                  <a:pt x="1072985" y="2409419"/>
                </a:lnTo>
                <a:lnTo>
                  <a:pt x="1180671" y="2444408"/>
                </a:lnTo>
                <a:lnTo>
                  <a:pt x="1291060" y="2469604"/>
                </a:lnTo>
                <a:lnTo>
                  <a:pt x="1403262" y="2484803"/>
                </a:lnTo>
                <a:lnTo>
                  <a:pt x="1516375" y="2489883"/>
                </a:lnTo>
                <a:close/>
              </a:path>
            </a:pathLst>
          </a:cu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" name="Rectangle 9999"/>
          <p:cNvSpPr/>
          <p:nvPr/>
        </p:nvSpPr>
        <p:spPr>
          <a:xfrm>
            <a:off x="2560320" y="2295144"/>
            <a:ext cx="2103120" cy="210312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" name="Oval 10000"/>
          <p:cNvSpPr/>
          <p:nvPr/>
        </p:nvSpPr>
        <p:spPr>
          <a:xfrm>
            <a:off x="2093975" y="1828800"/>
            <a:ext cx="3035808" cy="3035808"/>
          </a:xfrm>
          <a:prstGeom prst="ellipse">
            <a:avLst/>
          </a:prstGeom>
          <a:solidFill>
            <a:srgbClr val="D0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2" name="Oval 10001"/>
          <p:cNvSpPr/>
          <p:nvPr/>
        </p:nvSpPr>
        <p:spPr>
          <a:xfrm>
            <a:off x="2560320" y="2295144"/>
            <a:ext cx="2103120" cy="2103120"/>
          </a:xfrm>
          <a:prstGeom prst="ellipse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" name="Oval 10002"/>
          <p:cNvSpPr/>
          <p:nvPr/>
        </p:nvSpPr>
        <p:spPr>
          <a:xfrm>
            <a:off x="2807208" y="2542032"/>
            <a:ext cx="1609344" cy="1609344"/>
          </a:xfrm>
          <a:prstGeom prst="ellipse">
            <a:avLst/>
          </a:prstGeom>
          <a:solidFill>
            <a:srgbClr val="0F1F3D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" name="TextBox 10003"/>
          <p:cNvSpPr txBox="1"/>
          <p:nvPr/>
        </p:nvSpPr>
        <p:spPr>
          <a:xfrm>
            <a:off x="2927908" y="2662732"/>
            <a:ext cx="1367942" cy="136794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100"/>
              </a:spcBef>
            </a:pPr>
            <a:r>
              <a:rPr sz="2000" b="0">
                <a:solidFill>
                  <a:srgbClr val="FFFFFF"/>
                </a:solidFill>
                <a:latin typeface="Segoe UI"/>
              </a:rPr>
              <a:t>🤖</a:t>
            </a:r>
          </a:p>
          <a:p>
            <a:pPr algn="ctr">
              <a:spcBef>
                <a:spcPts val="1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IBM BOB</a:t>
            </a:r>
          </a:p>
          <a:p>
            <a:pPr algn="ctr">
              <a:spcBef>
                <a:spcPts val="100"/>
              </a:spcBef>
            </a:pPr>
            <a:r>
              <a:rPr sz="750" b="0">
                <a:solidFill>
                  <a:srgbClr val="A8D4F5"/>
                </a:solidFill>
                <a:latin typeface="Segoe UI"/>
              </a:rPr>
              <a:t>GenAI Modernization</a:t>
            </a:r>
          </a:p>
          <a:p>
            <a:pPr algn="ctr">
              <a:spcBef>
                <a:spcPts val="100"/>
              </a:spcBef>
            </a:pPr>
            <a:r>
              <a:rPr sz="750" b="0">
                <a:solidFill>
                  <a:srgbClr val="A8D4F5"/>
                </a:solidFill>
                <a:latin typeface="Segoe UI"/>
              </a:rPr>
              <a:t>Agent</a:t>
            </a:r>
          </a:p>
        </p:txBody>
      </p:sp>
      <p:sp>
        <p:nvSpPr>
          <p:cNvPr id="10005" name="Oval 10004"/>
          <p:cNvSpPr/>
          <p:nvPr/>
        </p:nvSpPr>
        <p:spPr>
          <a:xfrm>
            <a:off x="4282531" y="2075956"/>
            <a:ext cx="292608" cy="29260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" name="TextBox 10005"/>
          <p:cNvSpPr txBox="1"/>
          <p:nvPr/>
        </p:nvSpPr>
        <p:spPr>
          <a:xfrm>
            <a:off x="4291675" y="20668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328"/>
                </a:solidFill>
                <a:latin typeface="Segoe UI"/>
              </a:rPr>
              <a:t>🔍</a:t>
            </a:r>
          </a:p>
        </p:txBody>
      </p:sp>
      <p:sp>
        <p:nvSpPr>
          <p:cNvPr id="10007" name="Oval 10006"/>
          <p:cNvSpPr/>
          <p:nvPr/>
        </p:nvSpPr>
        <p:spPr>
          <a:xfrm>
            <a:off x="4787438" y="3629899"/>
            <a:ext cx="292608" cy="29260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" name="TextBox 10007"/>
          <p:cNvSpPr txBox="1"/>
          <p:nvPr/>
        </p:nvSpPr>
        <p:spPr>
          <a:xfrm>
            <a:off x="4796582" y="362075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328"/>
                </a:solidFill>
                <a:latin typeface="Segoe UI"/>
              </a:rPr>
              <a:t>📋</a:t>
            </a:r>
          </a:p>
        </p:txBody>
      </p:sp>
      <p:sp>
        <p:nvSpPr>
          <p:cNvPr id="10009" name="Oval 10008"/>
          <p:cNvSpPr/>
          <p:nvPr/>
        </p:nvSpPr>
        <p:spPr>
          <a:xfrm>
            <a:off x="3465575" y="4590288"/>
            <a:ext cx="292608" cy="29260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" name="TextBox 10009"/>
          <p:cNvSpPr txBox="1"/>
          <p:nvPr/>
        </p:nvSpPr>
        <p:spPr>
          <a:xfrm>
            <a:off x="3474720" y="4581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328"/>
                </a:solidFill>
                <a:latin typeface="Segoe UI"/>
              </a:rPr>
              <a:t>🔄</a:t>
            </a:r>
          </a:p>
        </p:txBody>
      </p:sp>
      <p:sp>
        <p:nvSpPr>
          <p:cNvPr id="10011" name="Oval 10010"/>
          <p:cNvSpPr/>
          <p:nvPr/>
        </p:nvSpPr>
        <p:spPr>
          <a:xfrm>
            <a:off x="2143713" y="3629899"/>
            <a:ext cx="292608" cy="29260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2" name="TextBox 10011"/>
          <p:cNvSpPr txBox="1"/>
          <p:nvPr/>
        </p:nvSpPr>
        <p:spPr>
          <a:xfrm>
            <a:off x="2152857" y="362075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328"/>
                </a:solidFill>
                <a:latin typeface="Segoe UI"/>
              </a:rPr>
              <a:t>🧪</a:t>
            </a:r>
          </a:p>
        </p:txBody>
      </p:sp>
      <p:sp>
        <p:nvSpPr>
          <p:cNvPr id="10013" name="Oval 10012"/>
          <p:cNvSpPr/>
          <p:nvPr/>
        </p:nvSpPr>
        <p:spPr>
          <a:xfrm>
            <a:off x="2341132" y="2383444"/>
            <a:ext cx="292608" cy="29260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" name="TextBox 10013"/>
          <p:cNvSpPr txBox="1"/>
          <p:nvPr/>
        </p:nvSpPr>
        <p:spPr>
          <a:xfrm>
            <a:off x="2350276" y="23743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328"/>
                </a:solidFill>
                <a:latin typeface="Segoe UI"/>
              </a:rPr>
              <a:t>📦</a:t>
            </a:r>
          </a:p>
        </p:txBody>
      </p:sp>
      <p:sp>
        <p:nvSpPr>
          <p:cNvPr id="10015" name="TextBox 10014"/>
          <p:cNvSpPr txBox="1"/>
          <p:nvPr/>
        </p:nvSpPr>
        <p:spPr>
          <a:xfrm>
            <a:off x="5349240" y="13533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F1F3D"/>
                </a:solidFill>
                <a:latin typeface="Segoe UI"/>
              </a:rPr>
              <a:t>1</a:t>
            </a:r>
          </a:p>
        </p:txBody>
      </p:sp>
      <p:sp>
        <p:nvSpPr>
          <p:cNvPr id="10016" name="Rectangle 10015"/>
          <p:cNvSpPr/>
          <p:nvPr/>
        </p:nvSpPr>
        <p:spPr>
          <a:xfrm>
            <a:off x="5568696" y="1517904"/>
            <a:ext cx="256032" cy="27432"/>
          </a:xfrm>
          <a:prstGeom prst="rect">
            <a:avLst/>
          </a:prstGeom>
          <a:solidFill>
            <a:srgbClr val="8F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7" name="Rectangle 10016"/>
          <p:cNvSpPr/>
          <p:nvPr/>
        </p:nvSpPr>
        <p:spPr>
          <a:xfrm>
            <a:off x="5852159" y="1316736"/>
            <a:ext cx="309067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F1F3D"/>
                </a:solidFill>
                <a:latin typeface="Segoe UI"/>
              </a:rPr>
              <a:t>Understand &amp; Analyse</a:t>
            </a:r>
          </a:p>
          <a:p>
            <a:pPr algn="l"/>
            <a:r>
              <a:rPr sz="900">
                <a:solidFill>
                  <a:srgbClr val="57606A"/>
                </a:solidFill>
                <a:latin typeface="Segoe UI"/>
              </a:rPr>
              <a:t>Reads codebase, maps call chains, scores complexity &amp; risk</a:t>
            </a:r>
          </a:p>
        </p:txBody>
      </p:sp>
      <p:sp>
        <p:nvSpPr>
          <p:cNvPr id="10018" name="TextBox 10017"/>
          <p:cNvSpPr txBox="1"/>
          <p:nvPr/>
        </p:nvSpPr>
        <p:spPr>
          <a:xfrm>
            <a:off x="5349240" y="21031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F1F3D"/>
                </a:solidFill>
                <a:latin typeface="Segoe UI"/>
              </a:rPr>
              <a:t>2</a:t>
            </a:r>
          </a:p>
        </p:txBody>
      </p:sp>
      <p:sp>
        <p:nvSpPr>
          <p:cNvPr id="10019" name="Rectangle 10018"/>
          <p:cNvSpPr/>
          <p:nvPr/>
        </p:nvSpPr>
        <p:spPr>
          <a:xfrm>
            <a:off x="5568696" y="2267712"/>
            <a:ext cx="256032" cy="27432"/>
          </a:xfrm>
          <a:prstGeom prst="rect">
            <a:avLst/>
          </a:prstGeom>
          <a:solidFill>
            <a:srgbClr val="8F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0" name="Rectangle 10019"/>
          <p:cNvSpPr/>
          <p:nvPr/>
        </p:nvSpPr>
        <p:spPr>
          <a:xfrm>
            <a:off x="5852159" y="2066544"/>
            <a:ext cx="309067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F1F3D"/>
                </a:solidFill>
                <a:latin typeface="Segoe UI"/>
              </a:rPr>
              <a:t>Extract Business Rules</a:t>
            </a:r>
          </a:p>
          <a:p>
            <a:pPr algn="l"/>
            <a:r>
              <a:rPr sz="900">
                <a:solidFill>
                  <a:srgbClr val="57606A"/>
                </a:solidFill>
                <a:latin typeface="Segoe UI"/>
              </a:rPr>
              <a:t>Surfaces hidden logic, generates traceable documentation</a:t>
            </a:r>
          </a:p>
        </p:txBody>
      </p:sp>
      <p:sp>
        <p:nvSpPr>
          <p:cNvPr id="10021" name="TextBox 10020"/>
          <p:cNvSpPr txBox="1"/>
          <p:nvPr/>
        </p:nvSpPr>
        <p:spPr>
          <a:xfrm>
            <a:off x="5349240" y="285292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F1F3D"/>
                </a:solidFill>
                <a:latin typeface="Segoe UI"/>
              </a:rPr>
              <a:t>3</a:t>
            </a:r>
          </a:p>
        </p:txBody>
      </p:sp>
      <p:sp>
        <p:nvSpPr>
          <p:cNvPr id="10022" name="Rectangle 10021"/>
          <p:cNvSpPr/>
          <p:nvPr/>
        </p:nvSpPr>
        <p:spPr>
          <a:xfrm>
            <a:off x="5568696" y="3017520"/>
            <a:ext cx="256032" cy="27432"/>
          </a:xfrm>
          <a:prstGeom prst="rect">
            <a:avLst/>
          </a:prstGeom>
          <a:solidFill>
            <a:srgbClr val="8F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3" name="Rectangle 10022"/>
          <p:cNvSpPr/>
          <p:nvPr/>
        </p:nvSpPr>
        <p:spPr>
          <a:xfrm>
            <a:off x="5852159" y="2816352"/>
            <a:ext cx="309067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F1F3D"/>
                </a:solidFill>
                <a:latin typeface="Segoe UI"/>
              </a:rPr>
              <a:t>Plan &amp; Reason</a:t>
            </a:r>
          </a:p>
          <a:p>
            <a:pPr algn="l"/>
            <a:r>
              <a:rPr sz="900">
                <a:solidFill>
                  <a:srgbClr val="57606A"/>
                </a:solidFill>
                <a:latin typeface="Segoe UI"/>
              </a:rPr>
              <a:t>Builds transformation strategy, confirms approach with user</a:t>
            </a:r>
          </a:p>
        </p:txBody>
      </p:sp>
      <p:sp>
        <p:nvSpPr>
          <p:cNvPr id="10024" name="TextBox 10023"/>
          <p:cNvSpPr txBox="1"/>
          <p:nvPr/>
        </p:nvSpPr>
        <p:spPr>
          <a:xfrm>
            <a:off x="5349240" y="3602736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F1F3D"/>
                </a:solidFill>
                <a:latin typeface="Segoe UI"/>
              </a:rPr>
              <a:t>4</a:t>
            </a:r>
          </a:p>
        </p:txBody>
      </p:sp>
      <p:sp>
        <p:nvSpPr>
          <p:cNvPr id="10025" name="Rectangle 10024"/>
          <p:cNvSpPr/>
          <p:nvPr/>
        </p:nvSpPr>
        <p:spPr>
          <a:xfrm>
            <a:off x="5568696" y="3767328"/>
            <a:ext cx="256032" cy="27432"/>
          </a:xfrm>
          <a:prstGeom prst="rect">
            <a:avLst/>
          </a:prstGeom>
          <a:solidFill>
            <a:srgbClr val="8F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6" name="Rectangle 10025"/>
          <p:cNvSpPr/>
          <p:nvPr/>
        </p:nvSpPr>
        <p:spPr>
          <a:xfrm>
            <a:off x="5852159" y="3566160"/>
            <a:ext cx="309067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F1F3D"/>
                </a:solidFill>
                <a:latin typeface="Segoe UI"/>
              </a:rPr>
              <a:t>Transform &amp; Generate</a:t>
            </a:r>
          </a:p>
          <a:p>
            <a:pPr algn="l"/>
            <a:r>
              <a:rPr sz="900">
                <a:solidFill>
                  <a:srgbClr val="57606A"/>
                </a:solidFill>
                <a:latin typeface="Segoe UI"/>
              </a:rPr>
              <a:t>Writes target code, modernizes DB &amp; APIs, generates tests</a:t>
            </a:r>
          </a:p>
        </p:txBody>
      </p:sp>
      <p:sp>
        <p:nvSpPr>
          <p:cNvPr id="10027" name="TextBox 10026"/>
          <p:cNvSpPr txBox="1"/>
          <p:nvPr/>
        </p:nvSpPr>
        <p:spPr>
          <a:xfrm>
            <a:off x="5349240" y="4352544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F1F3D"/>
                </a:solidFill>
                <a:latin typeface="Segoe UI"/>
              </a:rPr>
              <a:t>5</a:t>
            </a:r>
          </a:p>
        </p:txBody>
      </p:sp>
      <p:sp>
        <p:nvSpPr>
          <p:cNvPr id="10028" name="Rectangle 10027"/>
          <p:cNvSpPr/>
          <p:nvPr/>
        </p:nvSpPr>
        <p:spPr>
          <a:xfrm>
            <a:off x="5568696" y="4517136"/>
            <a:ext cx="256032" cy="27432"/>
          </a:xfrm>
          <a:prstGeom prst="rect">
            <a:avLst/>
          </a:prstGeom>
          <a:solidFill>
            <a:srgbClr val="8F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9" name="Rectangle 10028"/>
          <p:cNvSpPr/>
          <p:nvPr/>
        </p:nvSpPr>
        <p:spPr>
          <a:xfrm>
            <a:off x="5852159" y="4315968"/>
            <a:ext cx="309067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F1F3D"/>
                </a:solidFill>
                <a:latin typeface="Segoe UI"/>
              </a:rPr>
              <a:t>Validate &amp; Deliver</a:t>
            </a:r>
          </a:p>
          <a:p>
            <a:pPr algn="l"/>
            <a:r>
              <a:rPr sz="900">
                <a:solidFill>
                  <a:srgbClr val="57606A"/>
                </a:solidFill>
                <a:latin typeface="Segoe UI"/>
              </a:rPr>
              <a:t>Runs tests, fixes gaps, packages reports &amp; migration artefacts</a:t>
            </a:r>
          </a:p>
        </p:txBody>
      </p:sp>
      <p:sp>
        <p:nvSpPr>
          <p:cNvPr id="10030" name="Rectangle 10029"/>
          <p:cNvSpPr/>
          <p:nvPr/>
        </p:nvSpPr>
        <p:spPr>
          <a:xfrm>
            <a:off x="8970263" y="1207008"/>
            <a:ext cx="22860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1" name="Rectangle 10030"/>
          <p:cNvSpPr/>
          <p:nvPr/>
        </p:nvSpPr>
        <p:spPr>
          <a:xfrm>
            <a:off x="8970263" y="1207008"/>
            <a:ext cx="2286000" cy="310896"/>
          </a:xfrm>
          <a:prstGeom prst="rect">
            <a:avLst/>
          </a:prstGeom>
          <a:solidFill>
            <a:srgbClr val="1A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2" name="TextBox 10031"/>
          <p:cNvSpPr txBox="1"/>
          <p:nvPr/>
        </p:nvSpPr>
        <p:spPr>
          <a:xfrm>
            <a:off x="8970263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Focus Areas</a:t>
            </a:r>
          </a:p>
        </p:txBody>
      </p:sp>
      <p:sp>
        <p:nvSpPr>
          <p:cNvPr id="10033" name="TextBox 10032"/>
          <p:cNvSpPr txBox="1"/>
          <p:nvPr/>
        </p:nvSpPr>
        <p:spPr>
          <a:xfrm>
            <a:off x="9079991" y="1609344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328"/>
                </a:solidFill>
                <a:latin typeface="Segoe UI"/>
              </a:rPr>
              <a:t>• Agentic reasoning — Bob plans each step autonomously</a:t>
            </a:r>
          </a:p>
        </p:txBody>
      </p:sp>
      <p:sp>
        <p:nvSpPr>
          <p:cNvPr id="10034" name="TextBox 10033"/>
          <p:cNvSpPr txBox="1"/>
          <p:nvPr/>
        </p:nvSpPr>
        <p:spPr>
          <a:xfrm>
            <a:off x="9079991" y="2249424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328"/>
                </a:solidFill>
                <a:latin typeface="Segoe UI"/>
              </a:rPr>
              <a:t>• Conversational interface — interact via plain English</a:t>
            </a:r>
          </a:p>
        </p:txBody>
      </p:sp>
      <p:sp>
        <p:nvSpPr>
          <p:cNvPr id="10035" name="TextBox 10034"/>
          <p:cNvSpPr txBox="1"/>
          <p:nvPr/>
        </p:nvSpPr>
        <p:spPr>
          <a:xfrm>
            <a:off x="9079991" y="2889504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328"/>
                </a:solidFill>
                <a:latin typeface="Segoe UI"/>
              </a:rPr>
              <a:t>• MCP tool integrations — repos, files, watsonx, databases</a:t>
            </a:r>
          </a:p>
        </p:txBody>
      </p:sp>
      <p:sp>
        <p:nvSpPr>
          <p:cNvPr id="10036" name="TextBox 10035"/>
          <p:cNvSpPr txBox="1"/>
          <p:nvPr/>
        </p:nvSpPr>
        <p:spPr>
          <a:xfrm>
            <a:off x="9079991" y="3529583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328"/>
                </a:solidFill>
                <a:latin typeface="Segoe UI"/>
              </a:rPr>
              <a:t>• Business logic traceability — code → rules → output</a:t>
            </a:r>
          </a:p>
        </p:txBody>
      </p:sp>
      <p:sp>
        <p:nvSpPr>
          <p:cNvPr id="10037" name="TextBox 10036"/>
          <p:cNvSpPr txBox="1"/>
          <p:nvPr/>
        </p:nvSpPr>
        <p:spPr>
          <a:xfrm>
            <a:off x="9079991" y="4169663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328"/>
                </a:solidFill>
                <a:latin typeface="Segoe UI"/>
              </a:rPr>
              <a:t>• Automated test generation &amp; validation</a:t>
            </a:r>
          </a:p>
        </p:txBody>
      </p:sp>
      <p:sp>
        <p:nvSpPr>
          <p:cNvPr id="10038" name="TextBox 10037"/>
          <p:cNvSpPr txBox="1"/>
          <p:nvPr/>
        </p:nvSpPr>
        <p:spPr>
          <a:xfrm>
            <a:off x="9079991" y="4809744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328"/>
                </a:solidFill>
                <a:latin typeface="Segoe UI"/>
              </a:rPr>
              <a:t>• Full audit trail &amp; migration documentation</a:t>
            </a:r>
          </a:p>
        </p:txBody>
      </p:sp>
      <p:sp>
        <p:nvSpPr>
          <p:cNvPr id="10039" name="Rectangle 10038"/>
          <p:cNvSpPr/>
          <p:nvPr/>
        </p:nvSpPr>
        <p:spPr>
          <a:xfrm>
            <a:off x="365760" y="5669280"/>
            <a:ext cx="11457432" cy="6583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0" name="TextBox 10039"/>
          <p:cNvSpPr txBox="1"/>
          <p:nvPr/>
        </p:nvSpPr>
        <p:spPr>
          <a:xfrm>
            <a:off x="548640" y="574243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Segoe UI"/>
              </a:rPr>
              <a:t>IBM Bob uses GenAI agentic reasoning to understand, extract and transform legacy mainframe applications into modern, cloud-ready code. It reads the codebase, reasons over the business logic, plans the migration, generates target code, and validates the output — all through a conversational interface powered by watsonx.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